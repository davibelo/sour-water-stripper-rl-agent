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8"/>
  </p:notesMasterIdLst>
  <p:sldIdLst>
    <p:sldId id="256" r:id="rId3"/>
    <p:sldId id="257" r:id="rId4"/>
    <p:sldId id="280" r:id="rId5"/>
    <p:sldId id="258" r:id="rId6"/>
    <p:sldId id="261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3" r:id="rId30"/>
    <p:sldId id="300" r:id="rId31"/>
    <p:sldId id="306" r:id="rId32"/>
    <p:sldId id="307" r:id="rId33"/>
    <p:sldId id="301" r:id="rId34"/>
    <p:sldId id="302" r:id="rId35"/>
    <p:sldId id="305" r:id="rId36"/>
    <p:sldId id="271" r:id="rId37"/>
  </p:sldIdLst>
  <p:sldSz cx="10080625" cy="5670550"/>
  <p:notesSz cx="7772400" cy="10058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56" autoAdjust="0"/>
  </p:normalViewPr>
  <p:slideViewPr>
    <p:cSldViewPr snapToGrid="0">
      <p:cViewPr varScale="1">
        <p:scale>
          <a:sx n="88" d="100"/>
          <a:sy n="88" d="100"/>
        </p:scale>
        <p:origin x="10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A5930-CAD2-4434-B68E-14C069792D9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2A5BC-62EC-4436-9D37-8710533250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06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9BE5-F07E-40DC-C2FF-CA86A4F6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A5A3A-1F0F-3B22-56D5-ECE9EE454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A3966-5F68-2251-AA34-286A5EDF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73C9-0AD1-D64B-51CC-8B525B04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9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8E459-4D9C-D743-E79C-103A88E6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2C83A-A9D9-A083-4957-254642476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FDCB4-D570-149F-16CC-6639E72C7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3CFB9-E5D6-051A-5479-9C31ECDC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18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4E5F-8C59-2C1E-C88E-19C0625C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B0181-4B19-A969-5A0A-EF48CF113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5D988-D617-904C-6259-1A00FFE76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E025F-64D3-7FF2-ACB6-CE7FEC3AC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4F5B-296E-A557-52C7-CF4F13FC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023FF-8F54-26F4-F21A-63BD6494B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40B0A-BB2A-929C-C575-47239F737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175F4-965A-A0DB-9F98-D2B884129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76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C5E1-1A65-F826-ACDE-072FA120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043A1-6C00-FB01-9EE2-4775009A6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F878D-4F9A-1453-C8B5-712EB683C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266B2-32CE-A7A9-6B65-D23E77370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5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20E7-1C7A-2732-EB54-4547D916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E78E3-5799-86A4-86C9-72DFEB694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A7B04-06F6-2E0B-70D9-378F92429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9822E-2783-CF84-B4F6-6D75AAD5C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97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C670-2012-82FD-80AF-AD15E823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EDB09-7972-C115-6A06-328FA07F3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50B03-BA05-B76D-429C-6D2E162A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164CD-2DF7-440D-EB4D-CB05E72EC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27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DD29-61A0-B578-6DE9-708143FC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FAC81-9E64-DEB3-D2FB-1971FA2BC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249F0-B27A-D268-E8FB-C10F98D8E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D64CB-1F0B-C25B-8A02-759D84EE2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19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BFEB-EC6C-3908-C153-523FCE44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922A3-B7B6-526E-1F59-0D8B6F5CC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09E59-DF96-75B2-B2C1-DF96A6266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63084-0196-0E2E-8C97-52ABB1407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57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484C-D34E-1510-AECE-F8AAFD4E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DD3DB-F4D2-9CE8-85F4-D29E67412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759BF-1967-294A-521E-623BCA553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1246B-F975-9C5C-F63D-0AC961352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55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B0BB-7746-B795-16DA-809DFE24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DE60A-4CF9-02F0-AD0A-E80F43B75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776CF-E865-AC70-3D69-0E0999868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1B96A-7F0A-BE52-60A4-726DDE216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16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AEF07-9284-BB6B-4EB8-A3A73CDA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704B0-AEFC-E173-6FD4-EB4EB09AA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6E33E-1EC1-533E-8D69-627677318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8736B-05DE-F4BA-CF84-BD914F711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2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502D-43C3-1416-B6A4-1B635314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D141A-34CB-1951-1302-8597BD7D1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A697C-4EDA-5919-2EE8-AB2E1DB21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DEA77-79BD-EB4D-DD40-251824A5A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65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2D5E-A011-AF62-C8DC-D799F565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DAE27-3590-8711-DF16-45A39D4BE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F90A0-8B19-B18C-C4A1-4F33D5B9C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E530F-D64E-0216-4593-F64F4414E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F75C8-685F-2B0C-388F-41BFA18E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7D822-986B-00CA-964E-B311E2484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711E3-60B7-8D4C-8DFF-BEB948FD5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F3DC5-931F-5118-B569-B999FA636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67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8B7D-E833-F961-965F-BC89F1131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5F340-80CD-2D52-12DF-F22C1F173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F4A49-F8D7-444C-B6E4-AD0FC97C4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957A4-86D5-6B70-4CA1-0E994E41C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56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3D8F-94FC-0659-A19D-00842FA1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68D8E-6F21-1C88-43D6-85368EBBE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E7438-8711-1D60-E77F-F3BCED12C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36BFE-F917-C965-0961-4C57FF216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90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CC4E-A45B-A9D8-2D20-6BFD88D4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3DC6D-91B9-6E3A-802A-6F57D9CC9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0C101-C1B4-5E86-1E94-BA597D3CA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597B0-8676-3D9E-D634-0FF1137B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49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8318-FDF4-53C3-B6F3-44EDD6AFA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C308D-C832-9C8F-DD97-585E9ECB9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7DF99-16F2-5AA9-FA6C-A9E61156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63090-7948-3741-CDE2-A8DBB7E6E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3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6B88-EFAB-B7E8-CDBB-9D8943FF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47D92-1EF3-79AD-7B14-AF3AFF8A5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DCEF8-FFFD-BD56-EAE3-98729B9B5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70F93-6CD9-F4D9-1FF9-C8F8A11CE1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79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CEB4-AF62-4BDF-BF04-D09EDD2B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28D7E-FFD5-CCDD-445E-7505808DF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74A3B-C9C0-2722-E358-E8F5DAC94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72459-90FA-531C-A94C-9F624AF1D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3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FAF1-4CDB-7D8D-BE59-F2BF4CAA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61887-BA8E-D429-C57C-EA90E1A8D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6E77F-7D00-D219-C483-ADA96478D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F1DA7-7DF9-2735-45CC-C09B8FE9B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98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E939-F69E-C8A7-1201-9FDB349B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CD2FF-5316-9AE6-43EB-D8C130482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3AF2D-DCC1-7B01-0359-5A0054B74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7FBCF-7F6C-E9D8-1E29-420CC02F1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123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A775-68B0-0547-0AAC-CE739285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A2C90-9CC1-D9FF-BE3A-7F9D444BE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6155C-E0AF-4749-A898-86E12F7BA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169A8-AD67-BA4E-EC35-6AF50F232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59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98FE-9F6D-DF54-1B0A-6BE5BA36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5936C-72B1-2B96-4B95-78FBB206A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8BFB0-353E-61B4-19CE-042FE8AEE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07CA3-7F9D-F881-84CF-E4B134FFF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86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00868-0E1C-9B5C-37F9-A495BBECC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4AFB1-CB0B-1D99-67D1-08D3278A8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61167-85EF-F153-A08F-4533D7EE6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ED7F5-6410-221A-F96C-A5FE851F6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8D11-53DB-57B7-146A-8AF5759B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A09DE-668B-BCFA-1705-4AA4DE02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D32C4-8775-F4F3-84F9-71E19CABA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105C0-7057-007D-130F-44A0B1E66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04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EB5F-EF2D-3918-F3F7-4D6216FF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FC020-F9F9-3374-92DB-950A56DAC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B0A12-79BF-1190-C8EC-AE15B44FE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D5EFD-9499-0BB3-36F5-8C933F0CD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34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9797E3-CC94-4A76-8610-88CF4A6B2E0A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EC2EEEB-A4C2-41BD-B22D-1FA1F9DA8D5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5ED111-75EB-4FCE-9313-C26EAA848064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D9AA84-DF23-75D6-BB95-9061D9EF3C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E4AD7D-09FF-47CC-99B8-F88D3E15F053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478E3F-D6EF-DA1D-3423-06CF150EC0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EPQB – Pesquisa Mestrado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8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Agente RL para otimização de um torre de esgotamento de H2S numa unidade de água ácida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pt-BR" sz="32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Aluno: Francisco Davi Belo Rodrigues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pt-BR" sz="32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2026</a:t>
            </a:r>
          </a:p>
        </p:txBody>
      </p:sp>
      <p:pic>
        <p:nvPicPr>
          <p:cNvPr id="16" name="Imagem 15"/>
          <p:cNvPicPr/>
          <p:nvPr/>
        </p:nvPicPr>
        <p:blipFill>
          <a:blip r:embed="rId2"/>
          <a:stretch/>
        </p:blipFill>
        <p:spPr>
          <a:xfrm>
            <a:off x="4048963" y="4768920"/>
            <a:ext cx="2260440" cy="53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Introdução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134143" y="615960"/>
            <a:ext cx="9235143" cy="3372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noProof="0" dirty="0">
                <a:solidFill>
                  <a:srgbClr val="000000"/>
                </a:solidFill>
                <a:latin typeface="Arial"/>
                <a:ea typeface="Microsoft YaHei"/>
              </a:rPr>
              <a:t>Problema</a:t>
            </a:r>
            <a:endParaRPr lang="pt-BR" sz="20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T</a:t>
            </a: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orre de esgotamento de H2S de um sistema de tratamento de águas ácidas de 2 torres possui não linearidade na recuperação de H2S concomitante com a minimização de perda de NH3 para o gás ácido.</a:t>
            </a: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Formular otimização sem dependência de analisadores de qualidade da carga e produto (economia de investimento e manutenção)</a:t>
            </a: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EF3B-E8E6-620C-7D09-3010A3A3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>
            <a:extLst>
              <a:ext uri="{FF2B5EF4-FFF2-40B4-BE49-F238E27FC236}">
                <a16:creationId xmlns:a16="http://schemas.microsoft.com/office/drawing/2014/main" id="{56DC5A94-A172-1B5B-D857-F90348F68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Introdução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E1BDAF0-6798-BBDE-784B-0601DA2E1354}"/>
              </a:ext>
            </a:extLst>
          </p:cNvPr>
          <p:cNvSpPr/>
          <p:nvPr/>
        </p:nvSpPr>
        <p:spPr>
          <a:xfrm>
            <a:off x="134143" y="615960"/>
            <a:ext cx="9235143" cy="3372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Objetivo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Obter agente RL para otimização de uma torre esgotadora de H2S que maximize recuperação de H2S e minimize perda de NH3 para o gás ácido</a:t>
            </a: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540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Metodologia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158760" y="779039"/>
            <a:ext cx="9651240" cy="45767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Simulação Estática do sistema em Aspen Plus V14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Análise de sensibilidade do sistema para variações na carga (contaminantes, vazão e temperatura) 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Amostragem por LHS (</a:t>
            </a:r>
            <a:r>
              <a:rPr lang="pt-BR" noProof="0" dirty="0" err="1">
                <a:solidFill>
                  <a:srgbClr val="000000"/>
                </a:solidFill>
                <a:latin typeface="Arial"/>
                <a:ea typeface="Microsoft YaHei"/>
              </a:rPr>
              <a:t>Latin</a:t>
            </a: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pt-BR" noProof="0" dirty="0" err="1">
                <a:solidFill>
                  <a:srgbClr val="000000"/>
                </a:solidFill>
                <a:latin typeface="Arial"/>
                <a:ea typeface="Microsoft YaHei"/>
              </a:rPr>
              <a:t>Hypercube</a:t>
            </a: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pt-BR" noProof="0" dirty="0" err="1">
                <a:solidFill>
                  <a:srgbClr val="000000"/>
                </a:solidFill>
                <a:latin typeface="Arial"/>
                <a:ea typeface="Microsoft YaHei"/>
              </a:rPr>
              <a:t>Sampling</a:t>
            </a:r>
            <a:r>
              <a:rPr lang="pt-BR" noProof="0" dirty="0">
                <a:solidFill>
                  <a:srgbClr val="000000"/>
                </a:solidFill>
                <a:latin typeface="Arial"/>
                <a:ea typeface="Microsoft YaHei"/>
              </a:rPr>
              <a:t>) para treinamento de </a:t>
            </a:r>
            <a:r>
              <a:rPr lang="pt-BR" noProof="0" dirty="0" err="1">
                <a:solidFill>
                  <a:srgbClr val="000000"/>
                </a:solidFill>
                <a:latin typeface="Arial"/>
                <a:ea typeface="Microsoft YaHei"/>
              </a:rPr>
              <a:t>mode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lo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surrogate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DNN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noProof="0" dirty="0" err="1">
                <a:solidFill>
                  <a:srgbClr val="000000"/>
                </a:solidFill>
                <a:latin typeface="Arial"/>
                <a:ea typeface="Microsoft YaHei"/>
              </a:rPr>
              <a:t>Simu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lação dos pontos e análise dos resultados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Treinamento modelo 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surrogate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DNN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Treinamento agente RL PPO, utilizando modelo 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surrogate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DNN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Teste Agente RL no simulador estático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Simulação Estática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</a:t>
            </a:r>
            <a:r>
              <a:rPr lang="pt-BR" sz="1800" b="0" u="none" strike="noStrike" noProof="0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RadFrac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noProof="0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CD598A-4C7A-46A2-B20B-3F2EDA0D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5" y="1404026"/>
            <a:ext cx="2389205" cy="828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E5512E-D070-3660-8734-BD1447A4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5" y="2127175"/>
            <a:ext cx="3544718" cy="2322956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7D5A5E0-0D71-27F0-AFBE-478CAFD81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320" y="779040"/>
            <a:ext cx="3200573" cy="4351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FC6A-6733-6542-FDFF-0E5CB846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991B001-ADE1-F8CD-7600-805AB81F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Simulação Estática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9785221-1CB8-0C43-2B3A-6BDA15D50ED9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</a:t>
            </a:r>
            <a:r>
              <a:rPr lang="pt-BR" sz="1800" b="0" u="none" strike="noStrike" noProof="0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RadFrac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55762-F73D-DC96-9AC5-EA56A44A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" y="1346193"/>
            <a:ext cx="5981458" cy="1728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1338F-2429-1ADB-4839-FE2F42DF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28727"/>
            <a:ext cx="5795188" cy="157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9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5467-507D-2C64-66E6-58F30812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C0EE5FF-D871-1222-3B01-3114AF7E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Simulação Estática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141E2CA-57EF-440C-CDC7-2D3C0286D187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</a:t>
            </a:r>
            <a:r>
              <a:rPr lang="pt-BR" sz="1800" b="0" u="none" strike="noStrike" noProof="0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RadFrac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A0294EE-08B7-EBC5-404C-35B5D44F8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5" y="1290772"/>
            <a:ext cx="4301375" cy="360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C52187-E277-FA89-EAA9-AF854913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263" y="1550083"/>
            <a:ext cx="5206602" cy="308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3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31C6-84F9-B7AA-F117-4E60D4AF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5DE1D24-F7EC-DE12-28BE-F70E751D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55E78A-D8DF-6506-6FE3-ECF0E163FA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73" y="905193"/>
            <a:ext cx="6863635" cy="411818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93C605-DE95-DC36-E5ED-A020300177EB}"/>
              </a:ext>
            </a:extLst>
          </p:cNvPr>
          <p:cNvSpPr txBox="1"/>
          <p:nvPr/>
        </p:nvSpPr>
        <p:spPr>
          <a:xfrm>
            <a:off x="7019108" y="1773446"/>
            <a:ext cx="37621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Casos 1 a 4: H2S 2625ppm, NH3 2250ppm</a:t>
            </a:r>
          </a:p>
          <a:p>
            <a:endParaRPr lang="pt-BR" sz="1100" dirty="0"/>
          </a:p>
          <a:p>
            <a:r>
              <a:rPr lang="pt-BR" sz="1100" dirty="0"/>
              <a:t>Caso 1: Vazão Mássica - 5%</a:t>
            </a:r>
          </a:p>
          <a:p>
            <a:r>
              <a:rPr lang="pt-BR" sz="1100" dirty="0"/>
              <a:t>Caso 2: Vazão Mássica + 5%</a:t>
            </a:r>
          </a:p>
          <a:p>
            <a:r>
              <a:rPr lang="pt-BR" sz="1100" dirty="0"/>
              <a:t>Caso 3: Temperatura de alimentação - 2,5%</a:t>
            </a:r>
          </a:p>
          <a:p>
            <a:r>
              <a:rPr lang="pt-BR" sz="1100" dirty="0"/>
              <a:t>Caso 4: Temperatura de alimentação + 2,5%</a:t>
            </a:r>
          </a:p>
          <a:p>
            <a:r>
              <a:rPr lang="pt-BR" sz="1100" dirty="0"/>
              <a:t>Caso 5: H2S 875ppm NH3 750ppm</a:t>
            </a:r>
          </a:p>
          <a:p>
            <a:r>
              <a:rPr lang="pt-BR" sz="1100" dirty="0"/>
              <a:t>Caso 6: H2S 1750ppm NH3 1500ppm</a:t>
            </a:r>
          </a:p>
          <a:p>
            <a:r>
              <a:rPr lang="pt-BR" sz="1100" dirty="0"/>
              <a:t>Caso 7: H2S 1750ppm NH3 3000ppm</a:t>
            </a:r>
          </a:p>
          <a:p>
            <a:r>
              <a:rPr lang="pt-BR" sz="1100" dirty="0"/>
              <a:t>Caso 8: H2S 2625ppm NH3 2250ppm</a:t>
            </a:r>
          </a:p>
          <a:p>
            <a:r>
              <a:rPr lang="pt-BR" sz="1100" dirty="0"/>
              <a:t>Caso 9: H2S 3500ppm NH3 1500ppm</a:t>
            </a:r>
          </a:p>
          <a:p>
            <a:r>
              <a:rPr lang="pt-BR" sz="1100" dirty="0"/>
              <a:t>Caso 10: H2S 3500ppm NH3 3000ppm</a:t>
            </a:r>
          </a:p>
        </p:txBody>
      </p:sp>
    </p:spTree>
    <p:extLst>
      <p:ext uri="{BB962C8B-B14F-4D97-AF65-F5344CB8AC3E}">
        <p14:creationId xmlns:p14="http://schemas.microsoft.com/office/powerpoint/2010/main" val="191847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FB7F-9FD0-326E-C2D5-419A8AF1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2A9E4B8F-F6E0-47EC-0AEB-7FFDE9DD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AA42EF-1443-E5CE-480B-59AB4508A239}"/>
              </a:ext>
            </a:extLst>
          </p:cNvPr>
          <p:cNvSpPr txBox="1"/>
          <p:nvPr/>
        </p:nvSpPr>
        <p:spPr>
          <a:xfrm>
            <a:off x="7019108" y="1773446"/>
            <a:ext cx="37621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Casos 1 a 4: H2S 2625ppm, NH3 2250ppm</a:t>
            </a:r>
          </a:p>
          <a:p>
            <a:endParaRPr lang="pt-BR" sz="1100" dirty="0"/>
          </a:p>
          <a:p>
            <a:r>
              <a:rPr lang="pt-BR" sz="1100" dirty="0"/>
              <a:t>Caso 1: Vazão Mássica - 5%</a:t>
            </a:r>
          </a:p>
          <a:p>
            <a:r>
              <a:rPr lang="pt-BR" sz="1100" dirty="0"/>
              <a:t>Caso 2: Vazão Mássica + 5%</a:t>
            </a:r>
          </a:p>
          <a:p>
            <a:r>
              <a:rPr lang="pt-BR" sz="1100" dirty="0"/>
              <a:t>Caso 3: Temperatura de alimentação - 2,5%</a:t>
            </a:r>
          </a:p>
          <a:p>
            <a:r>
              <a:rPr lang="pt-BR" sz="1100" dirty="0"/>
              <a:t>Caso 4: Temperatura de alimentação + 2,5%</a:t>
            </a:r>
          </a:p>
          <a:p>
            <a:r>
              <a:rPr lang="pt-BR" sz="1100" dirty="0"/>
              <a:t>Caso 5: H2S 875ppm NH3 750ppm</a:t>
            </a:r>
          </a:p>
          <a:p>
            <a:r>
              <a:rPr lang="pt-BR" sz="1100" dirty="0"/>
              <a:t>Caso 6: H2S 1750ppm NH3 1500ppm</a:t>
            </a:r>
          </a:p>
          <a:p>
            <a:r>
              <a:rPr lang="pt-BR" sz="1100" dirty="0"/>
              <a:t>Caso 7: H2S 1750ppm NH3 3000ppm</a:t>
            </a:r>
          </a:p>
          <a:p>
            <a:r>
              <a:rPr lang="pt-BR" sz="1100" dirty="0"/>
              <a:t>Caso 8: H2S 2625ppm NH3 2250ppm</a:t>
            </a:r>
          </a:p>
          <a:p>
            <a:r>
              <a:rPr lang="pt-BR" sz="1100" dirty="0"/>
              <a:t>Caso 9: H2S 3500ppm NH3 1500ppm</a:t>
            </a:r>
          </a:p>
          <a:p>
            <a:r>
              <a:rPr lang="pt-BR" sz="1100" dirty="0"/>
              <a:t>Caso 10: H2S 3500ppm NH3 3000ppm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237DA1-2600-F987-341F-967378020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50" y="745967"/>
            <a:ext cx="6685786" cy="417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2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DB3-7E2C-7ADD-D1F1-602894DE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E85BF0E5-B37A-8E02-41A2-9776B8159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61A3B9-124B-C920-3344-7EBC6B4DD3F5}"/>
              </a:ext>
            </a:extLst>
          </p:cNvPr>
          <p:cNvSpPr txBox="1"/>
          <p:nvPr/>
        </p:nvSpPr>
        <p:spPr>
          <a:xfrm>
            <a:off x="7019108" y="1773446"/>
            <a:ext cx="37621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Casos 1 a 4: H2S 2625ppm, NH3 2250ppm</a:t>
            </a:r>
          </a:p>
          <a:p>
            <a:endParaRPr lang="pt-BR" sz="1100" dirty="0"/>
          </a:p>
          <a:p>
            <a:r>
              <a:rPr lang="pt-BR" sz="1100" dirty="0"/>
              <a:t>Caso 1: Vazão Mássica - 5%</a:t>
            </a:r>
          </a:p>
          <a:p>
            <a:r>
              <a:rPr lang="pt-BR" sz="1100" dirty="0"/>
              <a:t>Caso 2: Vazão Mássica + 5%</a:t>
            </a:r>
          </a:p>
          <a:p>
            <a:r>
              <a:rPr lang="pt-BR" sz="1100" dirty="0"/>
              <a:t>Caso 3: Temperatura de alimentação - 2,5%</a:t>
            </a:r>
          </a:p>
          <a:p>
            <a:r>
              <a:rPr lang="pt-BR" sz="1100" dirty="0"/>
              <a:t>Caso 4: Temperatura de alimentação + 2,5%</a:t>
            </a:r>
          </a:p>
          <a:p>
            <a:r>
              <a:rPr lang="pt-BR" sz="1100" dirty="0"/>
              <a:t>Caso 5: H2S 875ppm NH3 750ppm</a:t>
            </a:r>
          </a:p>
          <a:p>
            <a:r>
              <a:rPr lang="pt-BR" sz="1100" dirty="0"/>
              <a:t>Caso 6: H2S 1750ppm NH3 1500ppm</a:t>
            </a:r>
          </a:p>
          <a:p>
            <a:r>
              <a:rPr lang="pt-BR" sz="1100" dirty="0"/>
              <a:t>Caso 7: H2S 1750ppm NH3 3000ppm</a:t>
            </a:r>
          </a:p>
          <a:p>
            <a:r>
              <a:rPr lang="pt-BR" sz="1100" dirty="0"/>
              <a:t>Caso 8: H2S 2625ppm NH3 2250ppm</a:t>
            </a:r>
          </a:p>
          <a:p>
            <a:r>
              <a:rPr lang="pt-BR" sz="1100" dirty="0"/>
              <a:t>Caso 9: H2S 3500ppm NH3 1500ppm</a:t>
            </a:r>
          </a:p>
          <a:p>
            <a:r>
              <a:rPr lang="pt-BR" sz="1100" dirty="0"/>
              <a:t>Caso 10: H2S 3500ppm NH3 3000ppm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0A4496-75A5-B708-58D7-BB116174A1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2" y="726638"/>
            <a:ext cx="6920496" cy="432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01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B22F-04EF-FDD3-879D-E99D70E0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D18283C-C233-2032-2D7B-64CC86B7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31B1D2-93B9-9512-D42D-849CD19801CF}"/>
              </a:ext>
            </a:extLst>
          </p:cNvPr>
          <p:cNvSpPr txBox="1"/>
          <p:nvPr/>
        </p:nvSpPr>
        <p:spPr>
          <a:xfrm>
            <a:off x="7019108" y="1773446"/>
            <a:ext cx="37621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Casos 1 a 4: H2S 2625ppm, NH3 2250ppm</a:t>
            </a:r>
          </a:p>
          <a:p>
            <a:endParaRPr lang="pt-BR" sz="1100" dirty="0"/>
          </a:p>
          <a:p>
            <a:r>
              <a:rPr lang="pt-BR" sz="1100" dirty="0"/>
              <a:t>Caso 1: Vazão Mássica - 5%</a:t>
            </a:r>
          </a:p>
          <a:p>
            <a:r>
              <a:rPr lang="pt-BR" sz="1100" dirty="0"/>
              <a:t>Caso 2: Vazão Mássica + 5%</a:t>
            </a:r>
          </a:p>
          <a:p>
            <a:r>
              <a:rPr lang="pt-BR" sz="1100" dirty="0"/>
              <a:t>Caso 3: Temperatura de alimentação - 2,5%</a:t>
            </a:r>
          </a:p>
          <a:p>
            <a:r>
              <a:rPr lang="pt-BR" sz="1100" dirty="0"/>
              <a:t>Caso 4: Temperatura de alimentação + 2,5%</a:t>
            </a:r>
          </a:p>
          <a:p>
            <a:r>
              <a:rPr lang="pt-BR" sz="1100" dirty="0"/>
              <a:t>Caso 5: H2S 875ppm NH3 750ppm</a:t>
            </a:r>
          </a:p>
          <a:p>
            <a:r>
              <a:rPr lang="pt-BR" sz="1100" dirty="0"/>
              <a:t>Caso 6: H2S 1750ppm NH3 1500ppm</a:t>
            </a:r>
          </a:p>
          <a:p>
            <a:r>
              <a:rPr lang="pt-BR" sz="1100" dirty="0"/>
              <a:t>Caso 7: H2S 1750ppm NH3 3000ppm</a:t>
            </a:r>
          </a:p>
          <a:p>
            <a:r>
              <a:rPr lang="pt-BR" sz="1100" dirty="0"/>
              <a:t>Caso 8: H2S 2625ppm NH3 2250ppm</a:t>
            </a:r>
          </a:p>
          <a:p>
            <a:r>
              <a:rPr lang="pt-BR" sz="1100" dirty="0"/>
              <a:t>Caso 9: H2S 3500ppm NH3 1500ppm</a:t>
            </a:r>
          </a:p>
          <a:p>
            <a:r>
              <a:rPr lang="pt-BR" sz="1100" dirty="0"/>
              <a:t>Caso 10: H2S 3500ppm NH3 3000ppm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62BA2A-CBEC-C078-26A0-5F95BADC3E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8" y="840775"/>
            <a:ext cx="6831106" cy="42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3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ADB7-3A2E-6DEE-B6E5-474E948D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119F4FB-870D-18EA-C6D2-C20A50BE6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B4BBB98-AC4B-AB85-B031-DC7C7EB685BB}"/>
              </a:ext>
            </a:extLst>
          </p:cNvPr>
          <p:cNvSpPr txBox="1"/>
          <p:nvPr/>
        </p:nvSpPr>
        <p:spPr>
          <a:xfrm>
            <a:off x="7193280" y="917974"/>
            <a:ext cx="37621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Casos 1 a 4: H2S 2625ppm, NH3 2250ppm</a:t>
            </a:r>
          </a:p>
          <a:p>
            <a:endParaRPr lang="pt-BR" sz="1000" dirty="0"/>
          </a:p>
          <a:p>
            <a:r>
              <a:rPr lang="pt-BR" sz="1000" dirty="0"/>
              <a:t>Caso 1: Vazão Mássica - 5%</a:t>
            </a:r>
          </a:p>
          <a:p>
            <a:r>
              <a:rPr lang="pt-BR" sz="1000" dirty="0"/>
              <a:t>Caso 2: Vazão Mássica + 5%</a:t>
            </a:r>
          </a:p>
          <a:p>
            <a:r>
              <a:rPr lang="pt-BR" sz="1000" dirty="0"/>
              <a:t>Caso 3: Temperatura de alimentação - 2,5%</a:t>
            </a:r>
          </a:p>
          <a:p>
            <a:r>
              <a:rPr lang="pt-BR" sz="1000" dirty="0"/>
              <a:t>Caso 4: Temperatura de alimentação + 2,5%</a:t>
            </a:r>
          </a:p>
          <a:p>
            <a:r>
              <a:rPr lang="pt-BR" sz="1000" dirty="0"/>
              <a:t>Caso 5: H2S 875ppm NH3 750ppm</a:t>
            </a:r>
          </a:p>
          <a:p>
            <a:r>
              <a:rPr lang="pt-BR" sz="1000" dirty="0"/>
              <a:t>Caso 6: H2S 1750ppm NH3 1500ppm</a:t>
            </a:r>
          </a:p>
          <a:p>
            <a:r>
              <a:rPr lang="pt-BR" sz="1000" dirty="0"/>
              <a:t>Caso 7: H2S 1750ppm NH3 3000ppm</a:t>
            </a:r>
          </a:p>
          <a:p>
            <a:r>
              <a:rPr lang="pt-BR" sz="1000" dirty="0"/>
              <a:t>Caso 8: H2S 2625ppm NH3 2250ppm</a:t>
            </a:r>
          </a:p>
          <a:p>
            <a:r>
              <a:rPr lang="pt-BR" sz="1000" dirty="0"/>
              <a:t>Caso 9: H2S 3500ppm NH3 1500ppm</a:t>
            </a:r>
          </a:p>
          <a:p>
            <a:r>
              <a:rPr lang="pt-BR" sz="1000" dirty="0"/>
              <a:t>Caso 10: H2S 3500ppm NH3 3000ppm</a:t>
            </a:r>
            <a:endParaRPr lang="pt-BR" sz="11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5AD320-C99A-AA43-14BF-B8FE4F2FD4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702" y="694108"/>
            <a:ext cx="3977876" cy="23867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AF1EC8-7A32-9494-BB5D-30119789EA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06" y="3158980"/>
            <a:ext cx="3762191" cy="235136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53DB491-1FB1-148A-09BB-23A46F9CC8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82" y="3158981"/>
            <a:ext cx="3762191" cy="235136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1FC8DD-FB1A-2356-2D7C-ED63A9AFD347}"/>
              </a:ext>
            </a:extLst>
          </p:cNvPr>
          <p:cNvSpPr txBox="1"/>
          <p:nvPr/>
        </p:nvSpPr>
        <p:spPr>
          <a:xfrm>
            <a:off x="144977" y="582301"/>
            <a:ext cx="1875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Influência da Vazão Carga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61114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7DE8-646F-EBE3-3850-FEA470C7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EBDB6CB-C475-7482-2CED-4D6041D0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A6D11E-CA2A-CEFB-75AF-3DA741CC7B0E}"/>
              </a:ext>
            </a:extLst>
          </p:cNvPr>
          <p:cNvSpPr txBox="1"/>
          <p:nvPr/>
        </p:nvSpPr>
        <p:spPr>
          <a:xfrm>
            <a:off x="7193280" y="917974"/>
            <a:ext cx="37621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Casos 1 a 4: H2S 2625ppm, NH3 2250ppm</a:t>
            </a:r>
          </a:p>
          <a:p>
            <a:endParaRPr lang="pt-BR" sz="1000" dirty="0"/>
          </a:p>
          <a:p>
            <a:r>
              <a:rPr lang="pt-BR" sz="1000" dirty="0"/>
              <a:t>Caso 1: Vazão Mássica - 5%</a:t>
            </a:r>
          </a:p>
          <a:p>
            <a:r>
              <a:rPr lang="pt-BR" sz="1000" dirty="0"/>
              <a:t>Caso 2: Vazão Mássica + 5%</a:t>
            </a:r>
          </a:p>
          <a:p>
            <a:r>
              <a:rPr lang="pt-BR" sz="1000" dirty="0"/>
              <a:t>Caso 3: Temperatura de alimentação - 2,5%</a:t>
            </a:r>
          </a:p>
          <a:p>
            <a:r>
              <a:rPr lang="pt-BR" sz="1000" dirty="0"/>
              <a:t>Caso 4: Temperatura de alimentação + 2,5%</a:t>
            </a:r>
          </a:p>
          <a:p>
            <a:r>
              <a:rPr lang="pt-BR" sz="1000" dirty="0"/>
              <a:t>Caso 5: H2S 875ppm NH3 750ppm</a:t>
            </a:r>
          </a:p>
          <a:p>
            <a:r>
              <a:rPr lang="pt-BR" sz="1000" dirty="0"/>
              <a:t>Caso 6: H2S 1750ppm NH3 1500ppm</a:t>
            </a:r>
          </a:p>
          <a:p>
            <a:r>
              <a:rPr lang="pt-BR" sz="1000" dirty="0"/>
              <a:t>Caso 7: H2S 1750ppm NH3 3000ppm</a:t>
            </a:r>
          </a:p>
          <a:p>
            <a:r>
              <a:rPr lang="pt-BR" sz="1000" dirty="0"/>
              <a:t>Caso 8: H2S 2625ppm NH3 2250ppm</a:t>
            </a:r>
          </a:p>
          <a:p>
            <a:r>
              <a:rPr lang="pt-BR" sz="1000" dirty="0"/>
              <a:t>Caso 9: H2S 3500ppm NH3 1500ppm</a:t>
            </a:r>
          </a:p>
          <a:p>
            <a:r>
              <a:rPr lang="pt-BR" sz="1000" dirty="0"/>
              <a:t>Caso 10: H2S 3500ppm NH3 3000ppm</a:t>
            </a:r>
            <a:endParaRPr lang="pt-BR" sz="11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17F866-6569-0485-2823-F4A0D701AD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366" y="681111"/>
            <a:ext cx="4162892" cy="249773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6CC4591-9295-5EB2-47A0-CF2D5FE5C8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56" y="3178846"/>
            <a:ext cx="3986727" cy="249170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2BD4B80-A64A-51FF-E9E2-E4CA516AF5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639" y="3124981"/>
            <a:ext cx="4072911" cy="254556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80311C-60EE-232D-5087-DEE27C057B07}"/>
              </a:ext>
            </a:extLst>
          </p:cNvPr>
          <p:cNvSpPr txBox="1"/>
          <p:nvPr/>
        </p:nvSpPr>
        <p:spPr>
          <a:xfrm>
            <a:off x="144977" y="582301"/>
            <a:ext cx="1875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Influência da Temp. Carga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24017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C5E0-858A-4982-24CC-DF741D91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7190D51-805A-B8FE-618B-196FBB0E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Análise Sensibilidade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3CCD9E-5EA6-9DBB-CE6C-DA47829B87BE}"/>
              </a:ext>
            </a:extLst>
          </p:cNvPr>
          <p:cNvSpPr txBox="1"/>
          <p:nvPr/>
        </p:nvSpPr>
        <p:spPr>
          <a:xfrm>
            <a:off x="7193280" y="917974"/>
            <a:ext cx="37621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Casos 1 a 4: H2S 2625ppm, NH3 2250ppm</a:t>
            </a:r>
          </a:p>
          <a:p>
            <a:endParaRPr lang="pt-BR" sz="1000" dirty="0"/>
          </a:p>
          <a:p>
            <a:r>
              <a:rPr lang="pt-BR" sz="1000" dirty="0"/>
              <a:t>Caso 1: Vazão Mássica - 5%</a:t>
            </a:r>
          </a:p>
          <a:p>
            <a:r>
              <a:rPr lang="pt-BR" sz="1000" dirty="0"/>
              <a:t>Caso 2: Vazão Mássica + 5%</a:t>
            </a:r>
          </a:p>
          <a:p>
            <a:r>
              <a:rPr lang="pt-BR" sz="1000" dirty="0"/>
              <a:t>Caso 3: Temperatura de alimentação - 2,5%</a:t>
            </a:r>
          </a:p>
          <a:p>
            <a:r>
              <a:rPr lang="pt-BR" sz="1000" dirty="0"/>
              <a:t>Caso 4: Temperatura de alimentação + 2,5%</a:t>
            </a:r>
          </a:p>
          <a:p>
            <a:r>
              <a:rPr lang="pt-BR" sz="1000" dirty="0"/>
              <a:t>Caso 5: H2S 875ppm NH3 750ppm</a:t>
            </a:r>
          </a:p>
          <a:p>
            <a:r>
              <a:rPr lang="pt-BR" sz="1000" dirty="0"/>
              <a:t>Caso 6: H2S 1750ppm NH3 1500ppm</a:t>
            </a:r>
          </a:p>
          <a:p>
            <a:r>
              <a:rPr lang="pt-BR" sz="1000" dirty="0"/>
              <a:t>Caso 7: H2S 1750ppm NH3 3000ppm</a:t>
            </a:r>
          </a:p>
          <a:p>
            <a:r>
              <a:rPr lang="pt-BR" sz="1000" dirty="0"/>
              <a:t>Caso 8: H2S 2625ppm NH3 2250ppm</a:t>
            </a:r>
          </a:p>
          <a:p>
            <a:r>
              <a:rPr lang="pt-BR" sz="1000" dirty="0"/>
              <a:t>Caso 9: H2S 3500ppm NH3 1500ppm</a:t>
            </a:r>
          </a:p>
          <a:p>
            <a:r>
              <a:rPr lang="pt-BR" sz="1000" dirty="0"/>
              <a:t>Caso 10: H2S 3500ppm NH3 3000ppm</a:t>
            </a:r>
            <a:endParaRPr lang="pt-BR" sz="11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5ABA253-F5BA-2E4A-C696-D42721BF8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514" y="615960"/>
            <a:ext cx="4207595" cy="25245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F081819-DACD-6D50-698B-2E048B0E16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92" y="3140517"/>
            <a:ext cx="4048054" cy="253003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89FB38-41A9-24F2-D886-73CC78AFD7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640" y="3154310"/>
            <a:ext cx="4025984" cy="251624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7A4AB9B-7935-193A-C5DC-972991D44275}"/>
              </a:ext>
            </a:extLst>
          </p:cNvPr>
          <p:cNvSpPr txBox="1"/>
          <p:nvPr/>
        </p:nvSpPr>
        <p:spPr>
          <a:xfrm>
            <a:off x="144977" y="582301"/>
            <a:ext cx="2101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noProof="0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Influência da Contaminantes na Carga</a:t>
            </a:r>
            <a:endParaRPr lang="pt-BR" noProof="0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59691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7C982-9F6C-1661-102D-ED57F143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1EC692EB-2F99-A94B-3A1F-3E6E216CC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Amostragem LHS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A73C23-6FD5-D17E-BDF5-2AF29DB806A0}"/>
              </a:ext>
            </a:extLst>
          </p:cNvPr>
          <p:cNvSpPr txBox="1"/>
          <p:nvPr/>
        </p:nvSpPr>
        <p:spPr>
          <a:xfrm>
            <a:off x="154576" y="961349"/>
            <a:ext cx="877170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Número de pontos = 1000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Entradas para simulação: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Qfeed</a:t>
            </a:r>
            <a:r>
              <a:rPr lang="pt-BR" b="1" dirty="0"/>
              <a:t>:</a:t>
            </a:r>
            <a:r>
              <a:rPr lang="pt-BR" dirty="0"/>
              <a:t> 47500 a 52500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Tfeed</a:t>
            </a:r>
            <a:r>
              <a:rPr lang="pt-BR" b="1" dirty="0"/>
              <a:t>:</a:t>
            </a:r>
            <a:r>
              <a:rPr lang="pt-BR" dirty="0"/>
              <a:t> 118,95 a 125,05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/>
              <a:t>cH2S:</a:t>
            </a:r>
            <a:r>
              <a:rPr lang="pt-BR" dirty="0"/>
              <a:t> 875 a 3500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/>
              <a:t>cNH3:</a:t>
            </a:r>
            <a:r>
              <a:rPr lang="pt-BR" dirty="0"/>
              <a:t> 750 a 3000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Qreb</a:t>
            </a:r>
            <a:r>
              <a:rPr lang="pt-BR" b="1" dirty="0"/>
              <a:t>:</a:t>
            </a:r>
            <a:r>
              <a:rPr lang="pt-BR" dirty="0"/>
              <a:t> 2,0 a 6,0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Pcolumn</a:t>
            </a:r>
            <a:r>
              <a:rPr lang="pt-BR" b="1" dirty="0"/>
              <a:t>:</a:t>
            </a:r>
            <a:r>
              <a:rPr lang="pt-BR" dirty="0"/>
              <a:t> 5,7 a 6,3 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Ecolumn</a:t>
            </a:r>
            <a:r>
              <a:rPr lang="pt-BR" b="1" dirty="0"/>
              <a:t>:</a:t>
            </a:r>
            <a:r>
              <a:rPr lang="pt-BR" dirty="0"/>
              <a:t> 66,5 a 73,5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/>
          </a:p>
          <a:p>
            <a:pPr>
              <a:buClr>
                <a:srgbClr val="000000"/>
              </a:buClr>
              <a:buSzPct val="45000"/>
            </a:pPr>
            <a:r>
              <a:rPr lang="pt-BR" dirty="0"/>
              <a:t>Saídas da simulação: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1" dirty="0" err="1"/>
              <a:t>Tbottom</a:t>
            </a:r>
            <a:r>
              <a:rPr lang="pt-BR" b="1" dirty="0"/>
              <a:t>, </a:t>
            </a:r>
            <a:r>
              <a:rPr lang="pt-BR" b="1" dirty="0" err="1"/>
              <a:t>Ttop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7486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E995-45C8-DAE3-A391-4E0816FD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7A69532-5CA5-4C6C-C97E-94D0A714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Simulação Estática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AA8A39-B9EE-CF89-FD03-3EEECC6978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313" y="1235766"/>
            <a:ext cx="6652176" cy="443478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2B02716-1F5F-F13A-9028-CBB779F42CAA}"/>
              </a:ext>
            </a:extLst>
          </p:cNvPr>
          <p:cNvSpPr txBox="1"/>
          <p:nvPr/>
        </p:nvSpPr>
        <p:spPr>
          <a:xfrm>
            <a:off x="302622" y="741197"/>
            <a:ext cx="5046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Histograma das entradas</a:t>
            </a:r>
          </a:p>
        </p:txBody>
      </p:sp>
    </p:spTree>
    <p:extLst>
      <p:ext uri="{BB962C8B-B14F-4D97-AF65-F5344CB8AC3E}">
        <p14:creationId xmlns:p14="http://schemas.microsoft.com/office/powerpoint/2010/main" val="2338989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87FD-DD8E-1BA6-21C1-85ECEA36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7764687E-EC32-C434-EA99-FE414329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Simulação Estática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D359E2-CB4E-350A-F6BD-56F6067EF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076" y="1346105"/>
            <a:ext cx="7315215" cy="365760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59A4E8-D02C-88A4-614B-68A602C8055F}"/>
              </a:ext>
            </a:extLst>
          </p:cNvPr>
          <p:cNvSpPr txBox="1"/>
          <p:nvPr/>
        </p:nvSpPr>
        <p:spPr>
          <a:xfrm>
            <a:off x="302622" y="741197"/>
            <a:ext cx="5046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Histograma das saídas</a:t>
            </a:r>
          </a:p>
        </p:txBody>
      </p:sp>
    </p:spTree>
    <p:extLst>
      <p:ext uri="{BB962C8B-B14F-4D97-AF65-F5344CB8AC3E}">
        <p14:creationId xmlns:p14="http://schemas.microsoft.com/office/powerpoint/2010/main" val="4049049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13F9-C840-CEE8-BC87-B18C1409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21B5D833-5E64-CB29-903F-EF9E6B63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Simulação Estática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ED1E8A-7C68-D4F5-C00F-6F6931A41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1333"/>
            <a:ext cx="10080625" cy="40322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1B24E27-C4E9-9E8D-DD46-F39D0A42D7FF}"/>
              </a:ext>
            </a:extLst>
          </p:cNvPr>
          <p:cNvSpPr txBox="1"/>
          <p:nvPr/>
        </p:nvSpPr>
        <p:spPr>
          <a:xfrm>
            <a:off x="302622" y="741197"/>
            <a:ext cx="5046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Scatter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Plot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das entradas</a:t>
            </a:r>
          </a:p>
        </p:txBody>
      </p:sp>
    </p:spTree>
    <p:extLst>
      <p:ext uri="{BB962C8B-B14F-4D97-AF65-F5344CB8AC3E}">
        <p14:creationId xmlns:p14="http://schemas.microsoft.com/office/powerpoint/2010/main" val="134562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685A-AC94-45BA-8FA4-910517E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76B42BD9-6B61-BA09-6D56-B33D32689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Simulação Estática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5F4EE1-A4D7-D8D3-0644-D9551A14DE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57" y="1332417"/>
            <a:ext cx="4856765" cy="40473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478AF4B-DE81-74E4-3654-4904077A34FB}"/>
              </a:ext>
            </a:extLst>
          </p:cNvPr>
          <p:cNvSpPr txBox="1"/>
          <p:nvPr/>
        </p:nvSpPr>
        <p:spPr>
          <a:xfrm>
            <a:off x="293914" y="854837"/>
            <a:ext cx="5046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Scatter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Arial"/>
                <a:ea typeface="Microsoft YaHei"/>
              </a:rPr>
              <a:t>Plot</a:t>
            </a: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 das saídas</a:t>
            </a:r>
          </a:p>
        </p:txBody>
      </p:sp>
    </p:spTree>
    <p:extLst>
      <p:ext uri="{BB962C8B-B14F-4D97-AF65-F5344CB8AC3E}">
        <p14:creationId xmlns:p14="http://schemas.microsoft.com/office/powerpoint/2010/main" val="348795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81C2E-4C02-47FA-884F-156DEEB98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183F8B78-5C5A-2739-AE30-4BD7FD1D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B75BAA-98B4-076E-B189-6BA9DD382894}"/>
              </a:ext>
            </a:extLst>
          </p:cNvPr>
          <p:cNvSpPr txBox="1"/>
          <p:nvPr/>
        </p:nvSpPr>
        <p:spPr>
          <a:xfrm>
            <a:off x="293914" y="854837"/>
            <a:ext cx="87542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Um modelo por saída</a:t>
            </a:r>
          </a:p>
          <a:p>
            <a:pPr>
              <a:buClr>
                <a:srgbClr val="000000"/>
              </a:buClr>
              <a:buSzPct val="45000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Separação dos dados: Treino 75%, Validação 15%, Teste 15%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r>
              <a:rPr lang="pt-BR" dirty="0"/>
              <a:t>Otimização de </a:t>
            </a:r>
            <a:r>
              <a:rPr lang="pt-BR" dirty="0" err="1"/>
              <a:t>Hiperparâmetros</a:t>
            </a:r>
            <a:r>
              <a:rPr lang="pt-BR" dirty="0"/>
              <a:t> com </a:t>
            </a:r>
            <a:r>
              <a:rPr lang="pt-BR" dirty="0" err="1"/>
              <a:t>Optuna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	Número de camadas densas: 1 a 5</a:t>
            </a:r>
          </a:p>
          <a:p>
            <a:r>
              <a:rPr lang="pt-BR" dirty="0"/>
              <a:t>	Taxa de aprendizado: 1×10⁻⁴ a 1×10⁻² (escala logarítmica)</a:t>
            </a:r>
          </a:p>
          <a:p>
            <a:r>
              <a:rPr lang="pt-BR" dirty="0"/>
              <a:t>	Tamanho do batch: 16, 32, 64 ou 128</a:t>
            </a:r>
          </a:p>
          <a:p>
            <a:r>
              <a:rPr lang="pt-BR" dirty="0"/>
              <a:t>	Função de ativação: </a:t>
            </a:r>
            <a:r>
              <a:rPr lang="pt-BR" dirty="0" err="1"/>
              <a:t>ReLU</a:t>
            </a:r>
            <a:r>
              <a:rPr lang="pt-BR" dirty="0"/>
              <a:t>, </a:t>
            </a:r>
            <a:r>
              <a:rPr lang="pt-BR" dirty="0" err="1"/>
              <a:t>Swish</a:t>
            </a:r>
            <a:r>
              <a:rPr lang="pt-BR" dirty="0"/>
              <a:t>, </a:t>
            </a:r>
            <a:r>
              <a:rPr lang="pt-BR" dirty="0" err="1"/>
              <a:t>Tanh</a:t>
            </a:r>
            <a:r>
              <a:rPr lang="pt-BR" dirty="0"/>
              <a:t> ou SELU</a:t>
            </a:r>
          </a:p>
          <a:p>
            <a:r>
              <a:rPr lang="pt-BR" dirty="0"/>
              <a:t>	Batch </a:t>
            </a:r>
            <a:r>
              <a:rPr lang="pt-BR" dirty="0" err="1"/>
              <a:t>Normalization</a:t>
            </a:r>
            <a:r>
              <a:rPr lang="pt-BR" dirty="0"/>
              <a:t>: ativado ou desativado</a:t>
            </a:r>
          </a:p>
          <a:p>
            <a:r>
              <a:rPr lang="pt-BR" dirty="0"/>
              <a:t>	Taxa de </a:t>
            </a:r>
            <a:r>
              <a:rPr lang="pt-BR" dirty="0" err="1"/>
              <a:t>dropout</a:t>
            </a:r>
            <a:r>
              <a:rPr lang="pt-BR" dirty="0"/>
              <a:t>: 0,0 a 0,3</a:t>
            </a:r>
          </a:p>
          <a:p>
            <a:r>
              <a:rPr lang="pt-BR" dirty="0"/>
              <a:t>	Regularização L2: 1×10⁻⁶ a 1×10⁻² (escala logarítmica)</a:t>
            </a:r>
          </a:p>
          <a:p>
            <a:r>
              <a:rPr lang="pt-BR" dirty="0"/>
              <a:t>	Neurônios por camada: 16 a 256 (incrementos de 16)</a:t>
            </a:r>
          </a:p>
        </p:txBody>
      </p:sp>
    </p:spTree>
    <p:extLst>
      <p:ext uri="{BB962C8B-B14F-4D97-AF65-F5344CB8AC3E}">
        <p14:creationId xmlns:p14="http://schemas.microsoft.com/office/powerpoint/2010/main" val="1446427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C230-1E8C-4BD7-FCCA-24303CE3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1923E6F-0BFC-DB36-927D-32075495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B1D45BD-FD6B-6D07-CBE1-ED78E090F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027"/>
            <a:ext cx="5033853" cy="251692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59882D6-B310-3A8D-A5D8-C4CC3E536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060" y="1645919"/>
            <a:ext cx="5310287" cy="265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35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046AD-8206-3CDC-CDA6-EF06412B0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2867C212-F5F8-D0F2-7163-90193311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E053AC-973C-7CEA-132A-D541D45F4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1015183"/>
            <a:ext cx="8545060" cy="427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55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2C82-32B6-1BA5-CAEC-3A016314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44C204C-3F07-1522-A004-B4C9BDBB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2FEFFF-E33A-1176-AF64-2289D8248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2" y="549270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56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D41A-70F3-02C0-C2CC-8BB51D7E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6B9AAC1-4632-8216-9ABA-643F0D6F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91C778-FCE3-E2C0-F8B0-1E4ABD063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554" y="832299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94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7CEC3-61F9-8FD8-7199-0C0DDB04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484012D-99A4-B906-C334-C3CDEEAC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5E9B68-BE50-AF46-BB83-6D2CEAA5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554" y="893259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65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1A27-3CA5-6038-E403-77B0C26FD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A612D87-C7AF-7801-2D26-3CE2683C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E360F9-C5B2-61EC-A090-83D037881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554" y="79746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30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FE77-BC0E-1136-6D4C-506EE417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8C16748-F058-F397-C73D-C8F67373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DNN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D46A8C-4F71-B216-2ED4-EB9C9F6D1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554" y="823590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819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D4F0-6D28-194E-3A7F-668002F2B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38B98D1-FEB7-D01A-82EA-87E72403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Agentes RL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5876598-21D3-E701-D9EB-2D40D0C38755}"/>
              </a:ext>
            </a:extLst>
          </p:cNvPr>
          <p:cNvSpPr txBox="1"/>
          <p:nvPr/>
        </p:nvSpPr>
        <p:spPr>
          <a:xfrm>
            <a:off x="174171" y="709036"/>
            <a:ext cx="8688853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Agente PPO (Proximal </a:t>
            </a:r>
            <a:r>
              <a:rPr lang="pt-BR" sz="1600" dirty="0" err="1"/>
              <a:t>Policy</a:t>
            </a:r>
            <a:r>
              <a:rPr lang="pt-BR" sz="1600" dirty="0"/>
              <a:t> </a:t>
            </a:r>
            <a:r>
              <a:rPr lang="pt-BR" sz="1600" dirty="0" err="1"/>
              <a:t>Optimization</a:t>
            </a:r>
            <a:r>
              <a:rPr lang="pt-BR" sz="1600" dirty="0"/>
              <a:t>) e DDPG (</a:t>
            </a:r>
            <a:r>
              <a:rPr lang="pt-BR" sz="1600" dirty="0" err="1"/>
              <a:t>Deep</a:t>
            </a:r>
            <a:r>
              <a:rPr lang="pt-BR" sz="1600" dirty="0"/>
              <a:t> </a:t>
            </a:r>
            <a:r>
              <a:rPr lang="pt-BR" sz="1600" dirty="0" err="1"/>
              <a:t>Deterministic</a:t>
            </a:r>
            <a:r>
              <a:rPr lang="pt-BR" sz="1600" dirty="0"/>
              <a:t> </a:t>
            </a:r>
            <a:r>
              <a:rPr lang="pt-BR" sz="1600" dirty="0" err="1"/>
              <a:t>Policy</a:t>
            </a:r>
            <a:r>
              <a:rPr lang="pt-BR" sz="1600" dirty="0"/>
              <a:t> </a:t>
            </a:r>
            <a:r>
              <a:rPr lang="pt-BR" sz="1600" dirty="0" err="1"/>
              <a:t>Gradient</a:t>
            </a:r>
            <a:r>
              <a:rPr lang="pt-BR" sz="1600" dirty="0"/>
              <a:t>)</a:t>
            </a:r>
          </a:p>
          <a:p>
            <a:endParaRPr lang="pt-BR" sz="1600" dirty="0"/>
          </a:p>
          <a:p>
            <a:r>
              <a:rPr lang="pt-BR" sz="1600" dirty="0"/>
              <a:t>Ambiente: Modelos </a:t>
            </a:r>
            <a:r>
              <a:rPr lang="pt-BR" sz="1600" dirty="0" err="1"/>
              <a:t>Surrogate</a:t>
            </a:r>
            <a:r>
              <a:rPr lang="pt-BR" sz="1600" dirty="0"/>
              <a:t> DNN (um para cada saída)</a:t>
            </a:r>
          </a:p>
          <a:p>
            <a:r>
              <a:rPr lang="pt-BR" sz="1600" dirty="0"/>
              <a:t>Variáveis estado interno do </a:t>
            </a:r>
            <a:r>
              <a:rPr lang="pt-BR" sz="1600" dirty="0" err="1"/>
              <a:t>surrogate</a:t>
            </a:r>
            <a:r>
              <a:rPr lang="pt-BR" sz="1600" dirty="0"/>
              <a:t>: </a:t>
            </a:r>
            <a:r>
              <a:rPr lang="pt-BR" sz="1600" dirty="0" err="1"/>
              <a:t>Qfeed</a:t>
            </a:r>
            <a:r>
              <a:rPr lang="pt-BR" sz="1600" dirty="0"/>
              <a:t>, </a:t>
            </a:r>
            <a:r>
              <a:rPr lang="pt-BR" sz="1600" dirty="0" err="1"/>
              <a:t>Tfeed</a:t>
            </a:r>
            <a:r>
              <a:rPr lang="pt-BR" sz="1600" dirty="0"/>
              <a:t>, cH2S*, cNH3*, </a:t>
            </a:r>
            <a:r>
              <a:rPr lang="pt-BR" sz="1600" dirty="0" err="1"/>
              <a:t>Qreb</a:t>
            </a:r>
            <a:r>
              <a:rPr lang="pt-BR" sz="1600" dirty="0"/>
              <a:t>, </a:t>
            </a:r>
            <a:r>
              <a:rPr lang="pt-BR" sz="1600" dirty="0" err="1"/>
              <a:t>Pcolumn</a:t>
            </a:r>
            <a:r>
              <a:rPr lang="pt-BR" sz="1600" dirty="0"/>
              <a:t>, </a:t>
            </a:r>
            <a:r>
              <a:rPr lang="pt-BR" sz="1600" dirty="0" err="1"/>
              <a:t>Ecolumn</a:t>
            </a:r>
            <a:endParaRPr lang="pt-BR" sz="1600" dirty="0"/>
          </a:p>
          <a:p>
            <a:r>
              <a:rPr lang="pt-BR" sz="1600" dirty="0"/>
              <a:t>Variáveis observação do agente: </a:t>
            </a:r>
            <a:r>
              <a:rPr lang="pt-BR" sz="1600" dirty="0" err="1"/>
              <a:t>Qfeed</a:t>
            </a:r>
            <a:r>
              <a:rPr lang="pt-BR" sz="1600" dirty="0"/>
              <a:t>, </a:t>
            </a:r>
            <a:r>
              <a:rPr lang="pt-BR" sz="1600" dirty="0" err="1"/>
              <a:t>Tfeed</a:t>
            </a:r>
            <a:r>
              <a:rPr lang="pt-BR" sz="1600" dirty="0"/>
              <a:t>, </a:t>
            </a:r>
            <a:r>
              <a:rPr lang="pt-BR" sz="1600" dirty="0" err="1"/>
              <a:t>Qreb</a:t>
            </a:r>
            <a:r>
              <a:rPr lang="pt-BR" sz="1600" dirty="0"/>
              <a:t>, </a:t>
            </a:r>
            <a:r>
              <a:rPr lang="pt-BR" sz="1600" dirty="0" err="1"/>
              <a:t>Pcolumn</a:t>
            </a:r>
            <a:r>
              <a:rPr lang="pt-BR" sz="1600" dirty="0"/>
              <a:t>, </a:t>
            </a:r>
            <a:r>
              <a:rPr lang="pt-BR" sz="1600" dirty="0" err="1"/>
              <a:t>Tbottom</a:t>
            </a:r>
            <a:r>
              <a:rPr lang="pt-BR" sz="1600" dirty="0"/>
              <a:t>, </a:t>
            </a:r>
            <a:r>
              <a:rPr lang="pt-BR" sz="1600" dirty="0" err="1"/>
              <a:t>Ttop</a:t>
            </a:r>
            <a:endParaRPr lang="pt-BR" sz="1600" dirty="0"/>
          </a:p>
          <a:p>
            <a:r>
              <a:rPr lang="pt-BR" sz="1600" dirty="0"/>
              <a:t>Distúrbios latentes: cH2S*, cNH3*, </a:t>
            </a:r>
            <a:r>
              <a:rPr lang="pt-BR" sz="1600" dirty="0" err="1"/>
              <a:t>Ecolumn</a:t>
            </a:r>
            <a:endParaRPr lang="pt-BR" sz="1600" dirty="0"/>
          </a:p>
          <a:p>
            <a:r>
              <a:rPr lang="pt-BR" sz="1600" dirty="0"/>
              <a:t>* Concentrações na alimentação</a:t>
            </a:r>
          </a:p>
          <a:p>
            <a:endParaRPr lang="pt-BR" sz="1600" dirty="0"/>
          </a:p>
          <a:p>
            <a:r>
              <a:rPr lang="pt-BR" sz="1600" dirty="0"/>
              <a:t>Função recompensa = w1 * (</a:t>
            </a:r>
            <a:r>
              <a:rPr lang="pt-BR" sz="1600" dirty="0" err="1"/>
              <a:t>Tbottom</a:t>
            </a:r>
            <a:r>
              <a:rPr lang="pt-BR" sz="1600" dirty="0"/>
              <a:t> – </a:t>
            </a:r>
            <a:r>
              <a:rPr lang="pt-BR" sz="1600" dirty="0" err="1"/>
              <a:t>Ttop</a:t>
            </a:r>
            <a:r>
              <a:rPr lang="pt-BR" sz="1600" dirty="0"/>
              <a:t>) + w2 * </a:t>
            </a:r>
            <a:r>
              <a:rPr lang="pt-BR" sz="1600" dirty="0" err="1"/>
              <a:t>Qreb</a:t>
            </a:r>
            <a:r>
              <a:rPr lang="pt-BR" sz="1600" dirty="0"/>
              <a:t> + w3 * var(</a:t>
            </a:r>
            <a:r>
              <a:rPr lang="pt-BR" sz="1600" dirty="0" err="1"/>
              <a:t>Tbottom</a:t>
            </a:r>
            <a:r>
              <a:rPr lang="pt-BR" sz="1600" dirty="0"/>
              <a:t>)</a:t>
            </a:r>
          </a:p>
          <a:p>
            <a:r>
              <a:rPr lang="pt-BR" sz="1600" dirty="0"/>
              <a:t>w1 = 0.105, w2 = 0.9,  w3 = 0.6</a:t>
            </a:r>
          </a:p>
          <a:p>
            <a:endParaRPr lang="pt-BR" sz="1100" dirty="0"/>
          </a:p>
          <a:p>
            <a:endParaRPr lang="pt-BR" sz="11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5A48B22-4E97-7A02-3FC0-B23875D24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29" y="3402081"/>
            <a:ext cx="2277131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100" dirty="0" err="1"/>
              <a:t>Hiperparâmetros</a:t>
            </a:r>
            <a:r>
              <a:rPr lang="pt-BR" altLang="pt-BR" sz="1100" dirty="0"/>
              <a:t> do DDPG: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Learning Rate: 1e-3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Buffer </a:t>
            </a:r>
            <a:r>
              <a:rPr lang="pt-BR" altLang="pt-BR" sz="1100" dirty="0" err="1"/>
              <a:t>Size</a:t>
            </a:r>
            <a:r>
              <a:rPr lang="pt-BR" altLang="pt-BR" sz="1100" dirty="0"/>
              <a:t>: 100000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Learning Starts: 1000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Batch </a:t>
            </a:r>
            <a:r>
              <a:rPr lang="pt-BR" altLang="pt-BR" sz="1100" dirty="0" err="1"/>
              <a:t>Size</a:t>
            </a:r>
            <a:r>
              <a:rPr lang="pt-BR" altLang="pt-BR" sz="1100" dirty="0"/>
              <a:t>: 256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Tau: 0.005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/>
              <a:t>Gamma: 0.99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 err="1"/>
              <a:t>Train</a:t>
            </a:r>
            <a:r>
              <a:rPr lang="pt-BR" altLang="pt-BR" sz="1100" dirty="0"/>
              <a:t> Frequency: 1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sz="1100" dirty="0" err="1"/>
              <a:t>Gradient</a:t>
            </a:r>
            <a:r>
              <a:rPr lang="pt-BR" altLang="pt-BR" sz="1100" dirty="0"/>
              <a:t> Steps: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93210F-EE64-CE7B-56D6-014967E2823B}"/>
              </a:ext>
            </a:extLst>
          </p:cNvPr>
          <p:cNvSpPr txBox="1"/>
          <p:nvPr/>
        </p:nvSpPr>
        <p:spPr>
          <a:xfrm>
            <a:off x="1217601" y="3309005"/>
            <a:ext cx="504661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err="1"/>
              <a:t>Hiperparâmetros</a:t>
            </a:r>
            <a:r>
              <a:rPr lang="pt-BR" sz="1100" dirty="0"/>
              <a:t> do PPO:</a:t>
            </a:r>
          </a:p>
          <a:p>
            <a:r>
              <a:rPr lang="pt-BR" sz="1100" dirty="0"/>
              <a:t>Learning Rate: 3e-4</a:t>
            </a:r>
          </a:p>
          <a:p>
            <a:r>
              <a:rPr lang="pt-BR" sz="1100" dirty="0" err="1"/>
              <a:t>n_steps</a:t>
            </a:r>
            <a:r>
              <a:rPr lang="pt-BR" sz="1100" dirty="0"/>
              <a:t>: 2048</a:t>
            </a:r>
          </a:p>
          <a:p>
            <a:r>
              <a:rPr lang="pt-BR" sz="1100" dirty="0"/>
              <a:t>Batch </a:t>
            </a:r>
            <a:r>
              <a:rPr lang="pt-BR" sz="1100" dirty="0" err="1"/>
              <a:t>Size</a:t>
            </a:r>
            <a:r>
              <a:rPr lang="pt-BR" sz="1100" dirty="0"/>
              <a:t>: 64</a:t>
            </a:r>
          </a:p>
          <a:p>
            <a:r>
              <a:rPr lang="pt-BR" sz="1100" dirty="0" err="1"/>
              <a:t>n_epochs</a:t>
            </a:r>
            <a:r>
              <a:rPr lang="pt-BR" sz="1100" dirty="0"/>
              <a:t>: 10</a:t>
            </a:r>
          </a:p>
          <a:p>
            <a:r>
              <a:rPr lang="pt-BR" sz="1100" dirty="0"/>
              <a:t>Gamma: 0.99</a:t>
            </a:r>
          </a:p>
          <a:p>
            <a:r>
              <a:rPr lang="pt-BR" sz="1100" dirty="0"/>
              <a:t>GAE Lambda: 0.95</a:t>
            </a:r>
          </a:p>
          <a:p>
            <a:r>
              <a:rPr lang="pt-BR" sz="1100" dirty="0"/>
              <a:t>Clip Range: 0.2</a:t>
            </a:r>
          </a:p>
          <a:p>
            <a:r>
              <a:rPr lang="pt-BR" sz="1100" dirty="0" err="1"/>
              <a:t>Entropy</a:t>
            </a:r>
            <a:r>
              <a:rPr lang="pt-BR" sz="1100" dirty="0"/>
              <a:t> </a:t>
            </a:r>
            <a:r>
              <a:rPr lang="pt-BR" sz="1100" dirty="0" err="1"/>
              <a:t>Coefficient</a:t>
            </a:r>
            <a:r>
              <a:rPr lang="pt-BR" sz="1100" dirty="0"/>
              <a:t>: 0.01</a:t>
            </a:r>
          </a:p>
          <a:p>
            <a:r>
              <a:rPr lang="pt-BR" sz="1100" dirty="0" err="1"/>
              <a:t>Value</a:t>
            </a:r>
            <a:r>
              <a:rPr lang="pt-BR" sz="1100" dirty="0"/>
              <a:t> </a:t>
            </a:r>
            <a:r>
              <a:rPr lang="pt-BR" sz="1100" dirty="0" err="1"/>
              <a:t>Function</a:t>
            </a:r>
            <a:r>
              <a:rPr lang="pt-BR" sz="1100" dirty="0"/>
              <a:t> </a:t>
            </a:r>
            <a:r>
              <a:rPr lang="pt-BR" sz="1100" dirty="0" err="1"/>
              <a:t>Coefficient</a:t>
            </a:r>
            <a:r>
              <a:rPr lang="pt-BR" sz="1100" dirty="0"/>
              <a:t>: 0.5</a:t>
            </a:r>
          </a:p>
          <a:p>
            <a:r>
              <a:rPr lang="pt-BR" sz="1100" dirty="0"/>
              <a:t>Max </a:t>
            </a:r>
            <a:r>
              <a:rPr lang="pt-BR" sz="1100" dirty="0" err="1"/>
              <a:t>Gradient</a:t>
            </a:r>
            <a:r>
              <a:rPr lang="pt-BR" sz="1100" dirty="0"/>
              <a:t> Norm: 0.5</a:t>
            </a:r>
          </a:p>
        </p:txBody>
      </p:sp>
    </p:spTree>
    <p:extLst>
      <p:ext uri="{BB962C8B-B14F-4D97-AF65-F5344CB8AC3E}">
        <p14:creationId xmlns:p14="http://schemas.microsoft.com/office/powerpoint/2010/main" val="2793020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7B57-ADB4-597F-F8D3-014A7A0A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73EDADF-F2F4-22B3-486B-B6221917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Agente RL - PPO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C9C5242-D2FB-E674-EF51-564CB9E96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0177"/>
            <a:ext cx="10080625" cy="31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2EED-FBC2-6760-101C-01FC51D6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478565AD-A0E8-4988-0DDF-F6A48A91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Agente RL - PPO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937227-B20B-E9C5-7BF8-DD862D0DA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6" y="763610"/>
            <a:ext cx="9166225" cy="458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88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98B3-59A0-C845-2B7C-6A8F9E00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F7DB5E9-2A73-B554-763B-B6777685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Agente RL - DDPG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8D3906C-EFBC-29CE-129E-3F806B4F6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0177"/>
            <a:ext cx="10080625" cy="315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65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5FBB-7D60-3E7D-4460-C4710741C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EB2F8DF-4C36-74B5-9F00-F072FAB5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Treinamento Agente RL - DDPG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0A08690-653D-B6D7-CD19-BEDF908BA0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4420"/>
            <a:ext cx="10080625" cy="50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1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3015-6060-6C1A-5497-A0FF87F6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DD30570-4505-70C3-EC73-C182EBA7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Teste Agente RL - PPO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61C038-30AA-4D45-E355-167473744D7A}"/>
              </a:ext>
            </a:extLst>
          </p:cNvPr>
          <p:cNvSpPr txBox="1"/>
          <p:nvPr/>
        </p:nvSpPr>
        <p:spPr>
          <a:xfrm>
            <a:off x="320040" y="615960"/>
            <a:ext cx="9071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- Simulação de episódios do agente RL com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surrogate</a:t>
            </a:r>
            <a:endParaRPr lang="pt-BR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3 faixas de inicialização de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(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low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,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mid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, high)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10 episódios por faixa de inicialização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Tolerância de convergência do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= 0.01</a:t>
            </a:r>
          </a:p>
          <a:p>
            <a:pPr>
              <a:buClr>
                <a:srgbClr val="000000"/>
              </a:buClr>
              <a:buSzPct val="45000"/>
            </a:pPr>
            <a:endParaRPr lang="pt-BR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- Simulações dos valores finais de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para obter recuperação H2S, perda de NH3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2E5A70-F2FD-0836-FC46-8F4CED670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6939"/>
            <a:ext cx="10080625" cy="289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75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A530-3877-40B6-AF14-4DC6CA1B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344FBC50-F037-61F2-2044-0E577320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Resultados Teste Agente RL - DDPG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64B9C2-7DF7-9448-46D7-AE885254FCF8}"/>
              </a:ext>
            </a:extLst>
          </p:cNvPr>
          <p:cNvSpPr txBox="1"/>
          <p:nvPr/>
        </p:nvSpPr>
        <p:spPr>
          <a:xfrm>
            <a:off x="320040" y="615960"/>
            <a:ext cx="9071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- Simulação de episódios do agente RL com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surrogate</a:t>
            </a:r>
            <a:endParaRPr lang="pt-BR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3 faixas de inicialização de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(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low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,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mid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, high)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10 episódios por faixa de inicialização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Tolerância de convergência do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= 0.01</a:t>
            </a:r>
          </a:p>
          <a:p>
            <a:pPr>
              <a:buClr>
                <a:srgbClr val="000000"/>
              </a:buClr>
              <a:buSzPct val="45000"/>
            </a:pPr>
            <a:endParaRPr lang="pt-BR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dirty="0">
                <a:solidFill>
                  <a:srgbClr val="000000"/>
                </a:solidFill>
                <a:ea typeface="Microsoft YaHei"/>
              </a:rPr>
              <a:t>- Simulações dos valores finais de </a:t>
            </a:r>
            <a:r>
              <a:rPr lang="pt-BR" dirty="0" err="1">
                <a:solidFill>
                  <a:srgbClr val="000000"/>
                </a:solidFill>
                <a:ea typeface="Microsoft YaHei"/>
              </a:rPr>
              <a:t>Qreb</a:t>
            </a:r>
            <a:r>
              <a:rPr lang="pt-BR" dirty="0">
                <a:solidFill>
                  <a:srgbClr val="000000"/>
                </a:solidFill>
                <a:ea typeface="Microsoft YaHei"/>
              </a:rPr>
              <a:t> para obter recuperação H2S, perda de NH3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2453C2D-1C60-7871-1777-99EC148D5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3" y="2460121"/>
            <a:ext cx="10080625" cy="289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85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noProof="0" dirty="0">
                <a:solidFill>
                  <a:srgbClr val="000000"/>
                </a:solidFill>
                <a:uFillTx/>
                <a:latin typeface="Arial"/>
              </a:rPr>
              <a:t>Conclusões</a:t>
            </a:r>
          </a:p>
        </p:txBody>
      </p:sp>
      <p:sp>
        <p:nvSpPr>
          <p:cNvPr id="110" name="Retângulo 109"/>
          <p:cNvSpPr/>
          <p:nvPr/>
        </p:nvSpPr>
        <p:spPr>
          <a:xfrm>
            <a:off x="564840" y="1002599"/>
            <a:ext cx="8433000" cy="4161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O agente PPO apresentou recuperação máxima de H2S de aprox. 100% para 25/30 episódios com perda de NH3 máxima menor que 0,7%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O agente PPO convergiu no máximo em 11 passos para os 30 episódios simulados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O agente DDPG apresentou maiores perdas de NH3 que o agente PPO próximo de 7% e usou até 30 iterações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O agente PPO apresentou melhor performance pela recuperação de H2S com menor perda de NH3 e convergência com menos passos que </a:t>
            </a:r>
            <a:r>
              <a:rPr lang="pt-BR">
                <a:solidFill>
                  <a:srgbClr val="000000"/>
                </a:solidFill>
                <a:latin typeface="Arial"/>
                <a:ea typeface="Microsoft YaHei"/>
              </a:rPr>
              <a:t>o agente DDPG.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noProof="0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noProof="0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2011</TotalTime>
  <Words>1549</Words>
  <Application>Microsoft Office PowerPoint</Application>
  <PresentationFormat>Personalizar</PresentationFormat>
  <Paragraphs>269</Paragraphs>
  <Slides>35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35</vt:i4>
      </vt:variant>
    </vt:vector>
  </HeadingPairs>
  <TitlesOfParts>
    <vt:vector size="44" baseType="lpstr">
      <vt:lpstr>Microsoft YaHei</vt:lpstr>
      <vt:lpstr>Aptos</vt:lpstr>
      <vt:lpstr>Arial</vt:lpstr>
      <vt:lpstr>Symbol</vt:lpstr>
      <vt:lpstr>Times New Roman</vt:lpstr>
      <vt:lpstr>Trebuchet MS</vt:lpstr>
      <vt:lpstr>Wingdings</vt:lpstr>
      <vt:lpstr>Office</vt:lpstr>
      <vt:lpstr>Office</vt:lpstr>
      <vt:lpstr>EPQB – Pesquisa Mestrado</vt:lpstr>
      <vt:lpstr>Introdução</vt:lpstr>
      <vt:lpstr>Introdução</vt:lpstr>
      <vt:lpstr>Metodologia</vt:lpstr>
      <vt:lpstr>Simulação Estática</vt:lpstr>
      <vt:lpstr>Simulação Estática</vt:lpstr>
      <vt:lpstr>Simulação Estática</vt:lpstr>
      <vt:lpstr>Análise Sensibilidade</vt:lpstr>
      <vt:lpstr>Análise Sensibilidade</vt:lpstr>
      <vt:lpstr>Análise Sensibilidade</vt:lpstr>
      <vt:lpstr>Análise Sensibilidade</vt:lpstr>
      <vt:lpstr>Análise Sensibilidade</vt:lpstr>
      <vt:lpstr>Análise Sensibilidade</vt:lpstr>
      <vt:lpstr>Análise Sensibilidade</vt:lpstr>
      <vt:lpstr>Amostragem LHS</vt:lpstr>
      <vt:lpstr>Resultados Simulação Estática</vt:lpstr>
      <vt:lpstr>Resultados Simulação Estática</vt:lpstr>
      <vt:lpstr>Resultados Simulação Estática</vt:lpstr>
      <vt:lpstr>Resultados Simulação Estática</vt:lpstr>
      <vt:lpstr>Resultados Treinamento DNN</vt:lpstr>
      <vt:lpstr>Resultados Treinamento DNN</vt:lpstr>
      <vt:lpstr>Resultados Treinamento DNN</vt:lpstr>
      <vt:lpstr>Resultados Treinamento DNN</vt:lpstr>
      <vt:lpstr>Resultados Treinamento DNN</vt:lpstr>
      <vt:lpstr>Resultados Treinamento DNN</vt:lpstr>
      <vt:lpstr>Resultados Treinamento DNN</vt:lpstr>
      <vt:lpstr>Resultados Treinamento DNN</vt:lpstr>
      <vt:lpstr>Resultados Treinamento Agentes RL</vt:lpstr>
      <vt:lpstr>Resultados Treinamento Agente RL - PPO</vt:lpstr>
      <vt:lpstr>Resultados Treinamento Agente RL - PPO</vt:lpstr>
      <vt:lpstr>Resultados Treinamento Agente RL - DDPG</vt:lpstr>
      <vt:lpstr>Resultados Treinamento Agente RL - DDPG</vt:lpstr>
      <vt:lpstr>Resultados Teste Agente RL - PPO</vt:lpstr>
      <vt:lpstr>Resultados Teste Agente RL - DDPG</vt:lpstr>
      <vt:lpstr>Conclusões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Office</cp:lastModifiedBy>
  <cp:revision>81</cp:revision>
  <cp:lastPrinted>2024-09-23T20:36:17Z</cp:lastPrinted>
  <dcterms:created xsi:type="dcterms:W3CDTF">2024-09-18T10:11:45Z</dcterms:created>
  <dcterms:modified xsi:type="dcterms:W3CDTF">2026-03-30T14:34:38Z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Office:8\Office:3</vt:lpwstr>
  </property>
  <property fmtid="{D5CDD505-2E9C-101B-9397-08002B2CF9AE}" pid="3" name="ClassificationContentMarkingFooterText">
    <vt:lpwstr>PÚBLICA</vt:lpwstr>
  </property>
</Properties>
</file>